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choolBridge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SchoolBridge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Plateforme numérique de gestion et d’apprentissage scolaire</a:t>
            </a:r>
            <a:endParaRPr lang="fr-FR" sz="1200"/>
          </a:p>
        </p:txBody>
      </p:sp>
      <p:sp>
        <p:nvSpPr>
          <p:cNvPr id="10" name="hero"/>
          <p:cNvSpPr/>
          <p:nvPr/>
        </p:nvSpPr>
        <p:spPr>
          <a:xfrm>
            <a:off x="685800" y="1691640"/>
            <a:ext cx="10698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1" name="tag"/>
          <p:cNvSpPr/>
          <p:nvPr/>
        </p:nvSpPr>
        <p:spPr>
          <a:xfrm>
            <a:off x="1097280" y="2103120"/>
            <a:ext cx="2057400" cy="38404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4F46E5"/>
                </a:solidFill>
              </a:rPr>
              <a:t>ÉDUCATION CONNECTÉE</a:t>
            </a:r>
            <a:endParaRPr lang="fr-FR" sz="1000"/>
          </a:p>
        </p:txBody>
      </p:sp>
      <p:sp>
        <p:nvSpPr>
          <p:cNvPr id="12" name="headline"/>
          <p:cNvSpPr/>
          <p:nvPr/>
        </p:nvSpPr>
        <p:spPr>
          <a:xfrm>
            <a:off x="1097280" y="265176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500" b="1">
                <a:solidFill>
                  <a:srgbClr val="172033"/>
                </a:solidFill>
              </a:rPr>
              <a:t>Un espace unique</a:t>
            </a:r>
            <a:endParaRPr lang="fr-FR" sz="2500"/>
          </a:p>
          <a:p>
            <a:pPr algn="l"/>
            <a:r>
              <a:rPr lang="fr-FR" sz="2500" b="1">
                <a:solidFill>
                  <a:srgbClr val="172033"/>
                </a:solidFill>
              </a:rPr>
              <a:t>pour apprendre, enseigner et piloter.</a:t>
            </a:r>
            <a:endParaRPr lang="fr-FR" sz="2500"/>
          </a:p>
        </p:txBody>
      </p:sp>
      <p:sp>
        <p:nvSpPr>
          <p:cNvPr id="13" name="description"/>
          <p:cNvSpPr/>
          <p:nvPr/>
        </p:nvSpPr>
        <p:spPr>
          <a:xfrm>
            <a:off x="1097280" y="3977639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400" b="0">
                <a:solidFill>
                  <a:srgbClr val="667085"/>
                </a:solidFill>
              </a:rPr>
              <a:t>Une expérience claire pour les élèves, les enseignants et l’administration.</a:t>
            </a:r>
            <a:endParaRPr lang="fr-FR" sz="1400"/>
          </a:p>
        </p:txBody>
      </p:sp>
      <p:sp>
        <p:nvSpPr>
          <p:cNvPr id="14" name="cta"/>
          <p:cNvSpPr/>
          <p:nvPr/>
        </p:nvSpPr>
        <p:spPr>
          <a:xfrm>
            <a:off x="1097280" y="4983480"/>
            <a:ext cx="1600200" cy="43891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FFFFFF"/>
                </a:solidFill>
              </a:rPr>
              <a:t>PROJET LARAVEL</a:t>
            </a:r>
            <a:endParaRPr lang="fr-FR" sz="1000"/>
          </a:p>
        </p:txBody>
      </p:sp>
      <p:sp>
        <p:nvSpPr>
          <p:cNvPr id="15" name="screen"/>
          <p:cNvSpPr/>
          <p:nvPr/>
        </p:nvSpPr>
        <p:spPr>
          <a:xfrm>
            <a:off x="6400800" y="2057400"/>
            <a:ext cx="4160520" cy="324612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6" name="screen top"/>
          <p:cNvSpPr/>
          <p:nvPr/>
        </p:nvSpPr>
        <p:spPr>
          <a:xfrm>
            <a:off x="6583680" y="2286000"/>
            <a:ext cx="3794760" cy="320040"/>
          </a:xfrm>
          <a:prstGeom prst="roundRect">
            <a:avLst/>
          </a:prstGeom>
          <a:solidFill>
            <a:srgbClr val="27324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000" b="1">
                <a:solidFill>
                  <a:srgbClr val="FFFFFF"/>
                </a:solidFill>
              </a:rPr>
              <a:t>  SchoolBridge     Tableau de bord</a:t>
            </a:r>
            <a:endParaRPr lang="fr-FR" sz="1000"/>
          </a:p>
        </p:txBody>
      </p:sp>
      <p:sp>
        <p:nvSpPr>
          <p:cNvPr id="17" name="menu"/>
          <p:cNvSpPr/>
          <p:nvPr/>
        </p:nvSpPr>
        <p:spPr>
          <a:xfrm>
            <a:off x="6583680" y="2788920"/>
            <a:ext cx="731520" cy="2240280"/>
          </a:xfrm>
          <a:prstGeom prst="roundRect">
            <a:avLst/>
          </a:prstGeom>
          <a:solidFill>
            <a:srgbClr val="222C42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0">
                <a:solidFill>
                  <a:srgbClr val="C7D2FE"/>
                </a:solidFill>
              </a:rPr>
              <a:t>⌂</a:t>
            </a:r>
            <a:endParaRPr lang="fr-FR" sz="1400"/>
          </a:p>
          <a:p>
            <a:pPr algn="c"/>
            <a:r>
              <a:rPr lang="fr-FR" sz="1400" b="0">
                <a:solidFill>
                  <a:srgbClr val="C7D2FE"/>
                </a:solidFill>
              </a:rPr>
              <a:t/>
            </a:r>
            <a:endParaRPr lang="fr-FR" sz="1400"/>
          </a:p>
          <a:p>
            <a:pPr algn="c"/>
            <a:r>
              <a:rPr lang="fr-FR" sz="1400" b="0">
                <a:solidFill>
                  <a:srgbClr val="C7D2FE"/>
                </a:solidFill>
              </a:rPr>
              <a:t>▣</a:t>
            </a:r>
            <a:endParaRPr lang="fr-FR" sz="1400"/>
          </a:p>
          <a:p>
            <a:pPr algn="c"/>
            <a:r>
              <a:rPr lang="fr-FR" sz="1400" b="0">
                <a:solidFill>
                  <a:srgbClr val="C7D2FE"/>
                </a:solidFill>
              </a:rPr>
              <a:t/>
            </a:r>
            <a:endParaRPr lang="fr-FR" sz="1400"/>
          </a:p>
          <a:p>
            <a:pPr algn="c"/>
            <a:r>
              <a:rPr lang="fr-FR" sz="1400" b="0">
                <a:solidFill>
                  <a:srgbClr val="C7D2FE"/>
                </a:solidFill>
              </a:rPr>
              <a:t>✉</a:t>
            </a:r>
            <a:endParaRPr lang="fr-FR" sz="1400"/>
          </a:p>
        </p:txBody>
      </p:sp>
      <p:sp>
        <p:nvSpPr>
          <p:cNvPr id="18" name="main"/>
          <p:cNvSpPr/>
          <p:nvPr/>
        </p:nvSpPr>
        <p:spPr>
          <a:xfrm>
            <a:off x="7498079" y="2788920"/>
            <a:ext cx="28803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welcome"/>
          <p:cNvSpPr/>
          <p:nvPr/>
        </p:nvSpPr>
        <p:spPr>
          <a:xfrm>
            <a:off x="7726679" y="301752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500" b="1">
                <a:solidFill>
                  <a:srgbClr val="172033"/>
                </a:solidFill>
              </a:rPr>
              <a:t>Bonjour, Amine 👋</a:t>
            </a:r>
            <a:endParaRPr lang="fr-FR" sz="1500"/>
          </a:p>
        </p:txBody>
      </p:sp>
      <p:sp>
        <p:nvSpPr>
          <p:cNvPr id="20" name="mini card 1"/>
          <p:cNvSpPr/>
          <p:nvPr/>
        </p:nvSpPr>
        <p:spPr>
          <a:xfrm>
            <a:off x="7726679" y="3657600"/>
            <a:ext cx="1051560" cy="84124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100" b="1">
                <a:solidFill>
                  <a:srgbClr val="4F46E5"/>
                </a:solidFill>
              </a:rPr>
              <a:t>4</a:t>
            </a:r>
            <a:endParaRPr lang="fr-FR" sz="1100"/>
          </a:p>
          <a:p>
            <a:pPr algn="c"/>
            <a:r>
              <a:rPr lang="fr-FR" sz="1100" b="1">
                <a:solidFill>
                  <a:srgbClr val="4F46E5"/>
                </a:solidFill>
              </a:rPr>
              <a:t>Cours</a:t>
            </a:r>
            <a:endParaRPr lang="fr-FR" sz="1100"/>
          </a:p>
        </p:txBody>
      </p:sp>
      <p:sp>
        <p:nvSpPr>
          <p:cNvPr id="21" name="mini card 2"/>
          <p:cNvSpPr/>
          <p:nvPr/>
        </p:nvSpPr>
        <p:spPr>
          <a:xfrm>
            <a:off x="8942832" y="3657600"/>
            <a:ext cx="1051560" cy="841248"/>
          </a:xfrm>
          <a:prstGeom prst="roundRect">
            <a:avLst/>
          </a:prstGeom>
          <a:solidFill>
            <a:srgbClr val="ECFDF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067647"/>
                </a:solidFill>
              </a:rPr>
              <a:t>87%</a:t>
            </a:r>
            <a:endParaRPr lang="fr-FR" sz="1000"/>
          </a:p>
          <a:p>
            <a:pPr algn="c"/>
            <a:r>
              <a:rPr lang="fr-FR" sz="1000" b="1">
                <a:solidFill>
                  <a:srgbClr val="067647"/>
                </a:solidFill>
              </a:rPr>
              <a:t>Progression</a:t>
            </a:r>
            <a:endParaRPr lang="fr-F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Le besoin auquel répond SchoolBridge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Centraliser les parcours pédagogiques et les échanges.</a:t>
            </a:r>
            <a:endParaRPr lang="fr-FR" sz="1200"/>
          </a:p>
        </p:txBody>
      </p:sp>
      <p:sp>
        <p:nvSpPr>
          <p:cNvPr id="10" name="card Pour les élèves"/>
          <p:cNvSpPr/>
          <p:nvPr/>
        </p:nvSpPr>
        <p:spPr>
          <a:xfrm>
            <a:off x="731520" y="173736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1" name="accent"/>
          <p:cNvSpPr/>
          <p:nvPr/>
        </p:nvSpPr>
        <p:spPr>
          <a:xfrm>
            <a:off x="731520" y="1737360"/>
            <a:ext cx="82296" cy="3474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2" name="card title"/>
          <p:cNvSpPr/>
          <p:nvPr/>
        </p:nvSpPr>
        <p:spPr>
          <a:xfrm>
            <a:off x="987552" y="190195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600" b="1">
                <a:solidFill>
                  <a:srgbClr val="172033"/>
                </a:solidFill>
              </a:rPr>
              <a:t>Pour les élèves</a:t>
            </a:r>
            <a:endParaRPr lang="fr-FR" sz="1600"/>
          </a:p>
        </p:txBody>
      </p:sp>
      <p:sp>
        <p:nvSpPr>
          <p:cNvPr id="13" name="card content"/>
          <p:cNvSpPr/>
          <p:nvPr/>
        </p:nvSpPr>
        <p:spPr>
          <a:xfrm>
            <a:off x="987552" y="2304288"/>
            <a:ext cx="2880360" cy="2788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50" b="0">
                <a:solidFill>
                  <a:srgbClr val="667085"/>
                </a:solidFill>
              </a:rPr>
              <a:t>Accéder aux cours, devoirs, tests et séances en direct.</a:t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/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>Suivre sa progression et recevoir les informations utiles.</a:t>
            </a:r>
            <a:endParaRPr lang="fr-FR" sz="1150"/>
          </a:p>
        </p:txBody>
      </p:sp>
      <p:sp>
        <p:nvSpPr>
          <p:cNvPr id="20" name="card Pour les enseignants"/>
          <p:cNvSpPr/>
          <p:nvPr/>
        </p:nvSpPr>
        <p:spPr>
          <a:xfrm>
            <a:off x="4434840" y="173736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21" name="accent"/>
          <p:cNvSpPr/>
          <p:nvPr/>
        </p:nvSpPr>
        <p:spPr>
          <a:xfrm>
            <a:off x="4434840" y="1737360"/>
            <a:ext cx="82296" cy="3474720"/>
          </a:xfrm>
          <a:prstGeom prst="roundRect">
            <a:avLst/>
          </a:prstGeom>
          <a:solidFill>
            <a:srgbClr val="0E9384"/>
          </a:solidFill>
          <a:ln>
            <a:noFill/>
          </a:ln>
        </p:spPr>
      </p:sp>
      <p:sp>
        <p:nvSpPr>
          <p:cNvPr id="22" name="card title"/>
          <p:cNvSpPr/>
          <p:nvPr/>
        </p:nvSpPr>
        <p:spPr>
          <a:xfrm>
            <a:off x="4690872" y="190195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600" b="1">
                <a:solidFill>
                  <a:srgbClr val="172033"/>
                </a:solidFill>
              </a:rPr>
              <a:t>Pour les enseignants</a:t>
            </a:r>
            <a:endParaRPr lang="fr-FR" sz="1600"/>
          </a:p>
        </p:txBody>
      </p:sp>
      <p:sp>
        <p:nvSpPr>
          <p:cNvPr id="23" name="card content"/>
          <p:cNvSpPr/>
          <p:nvPr/>
        </p:nvSpPr>
        <p:spPr>
          <a:xfrm>
            <a:off x="4690872" y="2304288"/>
            <a:ext cx="2880360" cy="2788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50" b="0">
                <a:solidFill>
                  <a:srgbClr val="667085"/>
                </a:solidFill>
              </a:rPr>
              <a:t>Organiser les contenus, partager des ressources et suivre les résultats.</a:t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/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>Communiquer directement avec les apprenants.</a:t>
            </a:r>
            <a:endParaRPr lang="fr-FR" sz="1150"/>
          </a:p>
        </p:txBody>
      </p:sp>
      <p:sp>
        <p:nvSpPr>
          <p:cNvPr id="30" name="card Pour l’administration"/>
          <p:cNvSpPr/>
          <p:nvPr/>
        </p:nvSpPr>
        <p:spPr>
          <a:xfrm>
            <a:off x="8138160" y="173736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31" name="accent"/>
          <p:cNvSpPr/>
          <p:nvPr/>
        </p:nvSpPr>
        <p:spPr>
          <a:xfrm>
            <a:off x="8138160" y="1737360"/>
            <a:ext cx="82296" cy="3474720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</p:sp>
      <p:sp>
        <p:nvSpPr>
          <p:cNvPr id="32" name="card title"/>
          <p:cNvSpPr/>
          <p:nvPr/>
        </p:nvSpPr>
        <p:spPr>
          <a:xfrm>
            <a:off x="8394192" y="190195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600" b="1">
                <a:solidFill>
                  <a:srgbClr val="172033"/>
                </a:solidFill>
              </a:rPr>
              <a:t>Pour l’administration</a:t>
            </a:r>
            <a:endParaRPr lang="fr-FR" sz="1600"/>
          </a:p>
        </p:txBody>
      </p:sp>
      <p:sp>
        <p:nvSpPr>
          <p:cNvPr id="33" name="card content"/>
          <p:cNvSpPr/>
          <p:nvPr/>
        </p:nvSpPr>
        <p:spPr>
          <a:xfrm>
            <a:off x="8394192" y="2304288"/>
            <a:ext cx="2880360" cy="2788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50" b="0">
                <a:solidFill>
                  <a:srgbClr val="667085"/>
                </a:solidFill>
              </a:rPr>
              <a:t>Gérer utilisateurs, classes, matières et indicateurs.</a:t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/>
            </a:r>
            <a:endParaRPr lang="fr-FR" sz="1150"/>
          </a:p>
          <a:p>
            <a:pPr algn="l"/>
            <a:r>
              <a:rPr lang="fr-FR" sz="1150" b="0">
                <a:solidFill>
                  <a:srgbClr val="667085"/>
                </a:solidFill>
              </a:rPr>
              <a:t>Assurer une vision globale de l’établissement.</a:t>
            </a:r>
            <a:endParaRPr lang="fr-FR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Des parcours adaptés à chaque rôle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Une navigation simple avec des droits et outils dédiés.</a:t>
            </a:r>
            <a:endParaRPr lang="fr-FR" sz="1200"/>
          </a:p>
        </p:txBody>
      </p:sp>
      <p:sp>
        <p:nvSpPr>
          <p:cNvPr id="10" name="flow line"/>
          <p:cNvSpPr/>
          <p:nvPr/>
        </p:nvSpPr>
        <p:spPr>
          <a:xfrm>
            <a:off x="1645920" y="3319272"/>
            <a:ext cx="877824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role 1"/>
          <p:cNvSpPr/>
          <p:nvPr/>
        </p:nvSpPr>
        <p:spPr>
          <a:xfrm>
            <a:off x="1005840" y="2057400"/>
            <a:ext cx="2377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2" name="role icon 1"/>
          <p:cNvSpPr/>
          <p:nvPr/>
        </p:nvSpPr>
        <p:spPr>
          <a:xfrm>
            <a:off x="1691640" y="2377440"/>
            <a:ext cx="1005840" cy="713232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700" b="1">
                <a:solidFill>
                  <a:srgbClr val="4F46E5"/>
                </a:solidFill>
              </a:rPr>
              <a:t>ÉLÈVE</a:t>
            </a:r>
            <a:endParaRPr lang="fr-FR" sz="1700"/>
          </a:p>
        </p:txBody>
      </p:sp>
      <p:sp>
        <p:nvSpPr>
          <p:cNvPr id="13" name="role text 1"/>
          <p:cNvSpPr/>
          <p:nvPr/>
        </p:nvSpPr>
        <p:spPr>
          <a:xfrm>
            <a:off x="1280160" y="33832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300" b="1">
                <a:solidFill>
                  <a:srgbClr val="172033"/>
                </a:solidFill>
              </a:rPr>
              <a:t>Apprendre</a:t>
            </a:r>
            <a:endParaRPr lang="fr-FR" sz="1300"/>
          </a:p>
          <a:p>
            <a:pPr algn="c"/>
            <a:r>
              <a:rPr lang="fr-FR" sz="1300" b="1">
                <a:solidFill>
                  <a:srgbClr val="172033"/>
                </a:solidFill>
              </a:rPr>
              <a:t>&amp; progresser</a:t>
            </a:r>
            <a:endParaRPr lang="fr-FR" sz="1300"/>
          </a:p>
        </p:txBody>
      </p:sp>
      <p:sp>
        <p:nvSpPr>
          <p:cNvPr id="14" name="role 2"/>
          <p:cNvSpPr/>
          <p:nvPr/>
        </p:nvSpPr>
        <p:spPr>
          <a:xfrm>
            <a:off x="4892040" y="2057400"/>
            <a:ext cx="2377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5" name="role icon 2"/>
          <p:cNvSpPr/>
          <p:nvPr/>
        </p:nvSpPr>
        <p:spPr>
          <a:xfrm>
            <a:off x="5577840" y="2377440"/>
            <a:ext cx="1005840" cy="713232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700" b="1">
                <a:solidFill>
                  <a:srgbClr val="0E9384"/>
                </a:solidFill>
              </a:rPr>
              <a:t>PROF</a:t>
            </a:r>
            <a:endParaRPr lang="fr-FR" sz="1700"/>
          </a:p>
        </p:txBody>
      </p:sp>
      <p:sp>
        <p:nvSpPr>
          <p:cNvPr id="16" name="role text 2"/>
          <p:cNvSpPr/>
          <p:nvPr/>
        </p:nvSpPr>
        <p:spPr>
          <a:xfrm>
            <a:off x="5166360" y="33832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300" b="1">
                <a:solidFill>
                  <a:srgbClr val="172033"/>
                </a:solidFill>
              </a:rPr>
              <a:t>Enseigner</a:t>
            </a:r>
            <a:endParaRPr lang="fr-FR" sz="1300"/>
          </a:p>
          <a:p>
            <a:pPr algn="c"/>
            <a:r>
              <a:rPr lang="fr-FR" sz="1300" b="1">
                <a:solidFill>
                  <a:srgbClr val="172033"/>
                </a:solidFill>
              </a:rPr>
              <a:t>&amp; accompagner</a:t>
            </a:r>
            <a:endParaRPr lang="fr-FR" sz="1300"/>
          </a:p>
        </p:txBody>
      </p:sp>
      <p:sp>
        <p:nvSpPr>
          <p:cNvPr id="17" name="role 3"/>
          <p:cNvSpPr/>
          <p:nvPr/>
        </p:nvSpPr>
        <p:spPr>
          <a:xfrm>
            <a:off x="8778240" y="2057400"/>
            <a:ext cx="2377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8" name="role icon 3"/>
          <p:cNvSpPr/>
          <p:nvPr/>
        </p:nvSpPr>
        <p:spPr>
          <a:xfrm>
            <a:off x="9464040" y="2377440"/>
            <a:ext cx="1005840" cy="713232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F79009"/>
                </a:solidFill>
              </a:rPr>
              <a:t>ADMIN</a:t>
            </a:r>
            <a:endParaRPr lang="fr-FR" sz="1500"/>
          </a:p>
        </p:txBody>
      </p:sp>
      <p:sp>
        <p:nvSpPr>
          <p:cNvPr id="19" name="role text 3"/>
          <p:cNvSpPr/>
          <p:nvPr/>
        </p:nvSpPr>
        <p:spPr>
          <a:xfrm>
            <a:off x="9052560" y="33832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300" b="1">
                <a:solidFill>
                  <a:srgbClr val="172033"/>
                </a:solidFill>
              </a:rPr>
              <a:t>Organiser</a:t>
            </a:r>
            <a:endParaRPr lang="fr-FR" sz="1300"/>
          </a:p>
          <a:p>
            <a:pPr algn="c"/>
            <a:r>
              <a:rPr lang="fr-FR" sz="1300" b="1">
                <a:solidFill>
                  <a:srgbClr val="172033"/>
                </a:solidFill>
              </a:rPr>
              <a:t>&amp; piloter</a:t>
            </a:r>
            <a:endParaRPr lang="fr-FR" sz="1300"/>
          </a:p>
        </p:txBody>
      </p:sp>
      <p:sp>
        <p:nvSpPr>
          <p:cNvPr id="20" name="footer"/>
          <p:cNvSpPr/>
          <p:nvPr/>
        </p:nvSpPr>
        <p:spPr>
          <a:xfrm>
            <a:off x="2057400" y="5074920"/>
            <a:ext cx="8046720" cy="47548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300" b="0">
                <a:solidFill>
                  <a:srgbClr val="344054"/>
                </a:solidFill>
              </a:rPr>
              <a:t>Des données partagées, une expérience maîtrisée pour chaque utilisateur.</a:t>
            </a:r>
            <a:endParaRPr lang="fr-FR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élève : tableau de bord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Une vue d’ensemble immédiate des activités et de la progression.</a:t>
            </a:r>
            <a:endParaRPr lang="fr-FR" sz="1200"/>
          </a:p>
        </p:txBody>
      </p:sp>
      <p:sp>
        <p:nvSpPr>
          <p:cNvPr id="10" name="browser"/>
          <p:cNvSpPr/>
          <p:nvPr/>
        </p:nvSpPr>
        <p:spPr>
          <a:xfrm>
            <a:off x="822960" y="1600200"/>
            <a:ext cx="10607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sp>
        <p:nvSpPr>
          <p:cNvPr id="11" name="topbar"/>
          <p:cNvSpPr/>
          <p:nvPr/>
        </p:nvSpPr>
        <p:spPr>
          <a:xfrm>
            <a:off x="822960" y="1600200"/>
            <a:ext cx="10607040" cy="438912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  SchoolBridge      Accueil    Matières    Mes cours    Agenda</a:t>
            </a:r>
            <a:endParaRPr lang="fr-FR" sz="1100"/>
          </a:p>
        </p:txBody>
      </p:sp>
      <p:sp>
        <p:nvSpPr>
          <p:cNvPr id="12" name="sidebar"/>
          <p:cNvSpPr/>
          <p:nvPr/>
        </p:nvSpPr>
        <p:spPr>
          <a:xfrm>
            <a:off x="822960" y="2039112"/>
            <a:ext cx="1828800" cy="4087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475467"/>
                </a:solidFill>
              </a:rPr>
              <a:t>  Tableau de bord</a:t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>  Mes cours</a:t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>  Devoirs</a:t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>  Tests</a:t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475467"/>
                </a:solidFill>
              </a:rPr>
              <a:t>  Messages</a:t>
            </a:r>
            <a:endParaRPr lang="fr-FR" sz="1200"/>
          </a:p>
        </p:txBody>
      </p:sp>
      <p:sp>
        <p:nvSpPr>
          <p:cNvPr id="13" name="greeting"/>
          <p:cNvSpPr/>
          <p:nvPr/>
        </p:nvSpPr>
        <p:spPr>
          <a:xfrm>
            <a:off x="3017520" y="23317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000" b="1">
                <a:solidFill>
                  <a:srgbClr val="172033"/>
                </a:solidFill>
              </a:rPr>
              <a:t>Bonjour, Amine 👋</a:t>
            </a:r>
            <a:endParaRPr lang="fr-FR" sz="2000"/>
          </a:p>
        </p:txBody>
      </p:sp>
      <p:sp>
        <p:nvSpPr>
          <p:cNvPr id="14" name="subgreeting"/>
          <p:cNvSpPr/>
          <p:nvPr/>
        </p:nvSpPr>
        <p:spPr>
          <a:xfrm>
            <a:off x="3017520" y="27706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667085"/>
                </a:solidFill>
              </a:rPr>
              <a:t>Voici votre activité de la semaine.</a:t>
            </a:r>
            <a:endParaRPr lang="fr-FR" sz="1100"/>
          </a:p>
        </p:txBody>
      </p:sp>
      <p:sp>
        <p:nvSpPr>
          <p:cNvPr id="15" name="stat1"/>
          <p:cNvSpPr/>
          <p:nvPr/>
        </p:nvSpPr>
        <p:spPr>
          <a:xfrm>
            <a:off x="3017520" y="3246120"/>
            <a:ext cx="1691640" cy="960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1">
                <a:solidFill>
                  <a:srgbClr val="4F46E5"/>
                </a:solidFill>
              </a:rPr>
              <a:t>04</a:t>
            </a:r>
            <a:endParaRPr lang="fr-FR" sz="1400"/>
          </a:p>
          <a:p>
            <a:pPr algn="c"/>
            <a:r>
              <a:rPr lang="fr-FR" sz="1400" b="1">
                <a:solidFill>
                  <a:srgbClr val="4F46E5"/>
                </a:solidFill>
              </a:rPr>
              <a:t>Cours actifs</a:t>
            </a:r>
            <a:endParaRPr lang="fr-FR" sz="1400"/>
          </a:p>
        </p:txBody>
      </p:sp>
      <p:sp>
        <p:nvSpPr>
          <p:cNvPr id="16" name="stat2"/>
          <p:cNvSpPr/>
          <p:nvPr/>
        </p:nvSpPr>
        <p:spPr>
          <a:xfrm>
            <a:off x="4892040" y="3246120"/>
            <a:ext cx="1691640" cy="960120"/>
          </a:xfrm>
          <a:prstGeom prst="roundRect">
            <a:avLst/>
          </a:prstGeom>
          <a:solidFill>
            <a:srgbClr val="ECFDF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1">
                <a:solidFill>
                  <a:srgbClr val="067647"/>
                </a:solidFill>
              </a:rPr>
              <a:t>87%</a:t>
            </a:r>
            <a:endParaRPr lang="fr-FR" sz="1400"/>
          </a:p>
          <a:p>
            <a:pPr algn="c"/>
            <a:r>
              <a:rPr lang="fr-FR" sz="1400" b="1">
                <a:solidFill>
                  <a:srgbClr val="067647"/>
                </a:solidFill>
              </a:rPr>
              <a:t>Progression</a:t>
            </a:r>
            <a:endParaRPr lang="fr-FR" sz="1400"/>
          </a:p>
        </p:txBody>
      </p:sp>
      <p:sp>
        <p:nvSpPr>
          <p:cNvPr id="17" name="stat3"/>
          <p:cNvSpPr/>
          <p:nvPr/>
        </p:nvSpPr>
        <p:spPr>
          <a:xfrm>
            <a:off x="6766560" y="3246120"/>
            <a:ext cx="1691640" cy="9601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1">
                <a:solidFill>
                  <a:srgbClr val="B54708"/>
                </a:solidFill>
              </a:rPr>
              <a:t>02</a:t>
            </a:r>
            <a:endParaRPr lang="fr-FR" sz="1400"/>
          </a:p>
          <a:p>
            <a:pPr algn="c"/>
            <a:r>
              <a:rPr lang="fr-FR" sz="1400" b="1">
                <a:solidFill>
                  <a:srgbClr val="B54708"/>
                </a:solidFill>
              </a:rPr>
              <a:t>Devoirs à faire</a:t>
            </a:r>
            <a:endParaRPr lang="fr-FR" sz="1400"/>
          </a:p>
        </p:txBody>
      </p:sp>
      <p:sp>
        <p:nvSpPr>
          <p:cNvPr id="18" name="agenda"/>
          <p:cNvSpPr/>
          <p:nvPr/>
        </p:nvSpPr>
        <p:spPr>
          <a:xfrm>
            <a:off x="3017520" y="4572000"/>
            <a:ext cx="5440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344054"/>
                </a:solidFill>
              </a:rPr>
              <a:t>Prochain cours   •   Mathématiques — Lundi, 10:00</a:t>
            </a:r>
            <a:endParaRPr lang="fr-FR" sz="1200"/>
          </a:p>
          <a:p>
            <a:pPr algn="l"/>
            <a:r>
              <a:rPr lang="fr-FR" sz="1200" b="0">
                <a:solidFill>
                  <a:srgbClr val="344054"/>
                </a:solidFill>
              </a:rPr>
              <a:t>Lien de séance et documents disponibles</a:t>
            </a:r>
            <a:endParaRPr lang="fr-FR" sz="1200"/>
          </a:p>
        </p:txBody>
      </p:sp>
      <p:sp>
        <p:nvSpPr>
          <p:cNvPr id="19" name="chart"/>
          <p:cNvSpPr/>
          <p:nvPr/>
        </p:nvSpPr>
        <p:spPr>
          <a:xfrm>
            <a:off x="8823960" y="242316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200" b="1">
                <a:solidFill>
                  <a:srgbClr val="4F46E5"/>
                </a:solidFill>
              </a:rPr>
              <a:t>Progression</a:t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/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>  90%</a:t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/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>  75%</a:t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/>
            </a:r>
            <a:endParaRPr lang="fr-FR" sz="1200"/>
          </a:p>
          <a:p>
            <a:pPr algn="c"/>
            <a:r>
              <a:rPr lang="fr-FR" sz="1200" b="1">
                <a:solidFill>
                  <a:srgbClr val="4F46E5"/>
                </a:solidFill>
              </a:rPr>
              <a:t>  62%</a:t>
            </a:r>
            <a:endParaRPr lang="fr-FR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élève : espace cours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Le contenu pédagogique est organisé par matière et par module.</a:t>
            </a:r>
            <a:endParaRPr lang="fr-FR" sz="1200"/>
          </a:p>
        </p:txBody>
      </p:sp>
      <p:sp>
        <p:nvSpPr>
          <p:cNvPr id="10" name="app"/>
          <p:cNvSpPr/>
          <p:nvPr/>
        </p:nvSpPr>
        <p:spPr>
          <a:xfrm>
            <a:off x="822960" y="1600200"/>
            <a:ext cx="10607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sp>
        <p:nvSpPr>
          <p:cNvPr id="11" name="left nav"/>
          <p:cNvSpPr/>
          <p:nvPr/>
        </p:nvSpPr>
        <p:spPr>
          <a:xfrm>
            <a:off x="822960" y="1600200"/>
            <a:ext cx="1920240" cy="452628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FFFFFF"/>
                </a:solidFill>
              </a:rPr>
              <a:t>  SchoolBridge</a:t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>  ‹ Mes cours</a:t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>  Mathématiques</a:t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>  Physique</a:t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FFFFFF"/>
                </a:solidFill>
              </a:rPr>
              <a:t>  Français</a:t>
            </a:r>
            <a:endParaRPr lang="fr-FR" sz="1200"/>
          </a:p>
        </p:txBody>
      </p:sp>
      <p:sp>
        <p:nvSpPr>
          <p:cNvPr id="12" name="breadcrumb"/>
          <p:cNvSpPr/>
          <p:nvPr/>
        </p:nvSpPr>
        <p:spPr>
          <a:xfrm>
            <a:off x="3154680" y="196596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667085"/>
                </a:solidFill>
              </a:rPr>
              <a:t>Mes cours  /  Mathématiques  /  Algèbre</a:t>
            </a:r>
            <a:endParaRPr lang="fr-FR" sz="1100"/>
          </a:p>
        </p:txBody>
      </p:sp>
      <p:sp>
        <p:nvSpPr>
          <p:cNvPr id="13" name="lesson title"/>
          <p:cNvSpPr/>
          <p:nvPr/>
        </p:nvSpPr>
        <p:spPr>
          <a:xfrm>
            <a:off x="3154680" y="24231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100" b="1">
                <a:solidFill>
                  <a:srgbClr val="172033"/>
                </a:solidFill>
              </a:rPr>
              <a:t>Équations du second degré</a:t>
            </a:r>
            <a:endParaRPr lang="fr-FR" sz="2100"/>
          </a:p>
        </p:txBody>
      </p:sp>
      <p:sp>
        <p:nvSpPr>
          <p:cNvPr id="14" name="video"/>
          <p:cNvSpPr/>
          <p:nvPr/>
        </p:nvSpPr>
        <p:spPr>
          <a:xfrm>
            <a:off x="3154680" y="3154680"/>
            <a:ext cx="4297680" cy="1965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2000" b="1">
                <a:solidFill>
                  <a:srgbClr val="FFFFFF"/>
                </a:solidFill>
              </a:rPr>
              <a:t>▶</a:t>
            </a:r>
            <a:endParaRPr lang="fr-FR" sz="2000"/>
          </a:p>
          <a:p>
            <a:pPr algn="c"/>
            <a:r>
              <a:rPr lang="fr-FR" sz="2000" b="1">
                <a:solidFill>
                  <a:srgbClr val="FFFFFF"/>
                </a:solidFill>
              </a:rPr>
              <a:t>Vidéo du cours</a:t>
            </a:r>
            <a:endParaRPr lang="fr-FR" sz="2000"/>
          </a:p>
        </p:txBody>
      </p:sp>
      <p:sp>
        <p:nvSpPr>
          <p:cNvPr id="15" name="course list"/>
          <p:cNvSpPr/>
          <p:nvPr/>
        </p:nvSpPr>
        <p:spPr>
          <a:xfrm>
            <a:off x="7818120" y="2743200"/>
            <a:ext cx="278892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344054"/>
                </a:solidFill>
              </a:rPr>
              <a:t>CONTENU DU MODULE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✓ Introduction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✓ Forme canonique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• Exercices guidés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○ Quiz de validation</a:t>
            </a:r>
            <a:endParaRPr lang="fr-FR" sz="1100"/>
          </a:p>
        </p:txBody>
      </p:sp>
      <p:sp>
        <p:nvSpPr>
          <p:cNvPr id="16" name="download"/>
          <p:cNvSpPr/>
          <p:nvPr/>
        </p:nvSpPr>
        <p:spPr>
          <a:xfrm>
            <a:off x="3154680" y="5440680"/>
            <a:ext cx="219456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4F46E5"/>
                </a:solidFill>
              </a:rPr>
              <a:t>↓ Télécharger le support</a:t>
            </a:r>
            <a:endParaRPr lang="fr-F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enseignant : piloter sa classe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Des outils directs pour publier, évaluer et échanger.</a:t>
            </a:r>
            <a:endParaRPr lang="fr-FR" sz="1200"/>
          </a:p>
        </p:txBody>
      </p:sp>
      <p:sp>
        <p:nvSpPr>
          <p:cNvPr id="10" name="app"/>
          <p:cNvSpPr/>
          <p:nvPr/>
        </p:nvSpPr>
        <p:spPr>
          <a:xfrm>
            <a:off x="822960" y="1600200"/>
            <a:ext cx="10607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sp>
        <p:nvSpPr>
          <p:cNvPr id="11" name="top"/>
          <p:cNvSpPr/>
          <p:nvPr/>
        </p:nvSpPr>
        <p:spPr>
          <a:xfrm>
            <a:off x="822960" y="1600200"/>
            <a:ext cx="10607040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  SchoolBridge Enseignant                         🔔  Profil</a:t>
            </a:r>
            <a:endParaRPr lang="fr-FR" sz="1100"/>
          </a:p>
        </p:txBody>
      </p:sp>
      <p:sp>
        <p:nvSpPr>
          <p:cNvPr id="12" name="side"/>
          <p:cNvSpPr/>
          <p:nvPr/>
        </p:nvSpPr>
        <p:spPr>
          <a:xfrm>
            <a:off x="822960" y="2075688"/>
            <a:ext cx="2011680" cy="4050791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115E59"/>
                </a:solidFill>
              </a:rPr>
              <a:t>  Accueil</a:t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>  Mes classes</a:t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>  Cours</a:t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>  Devoirs</a:t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/>
            </a:r>
            <a:endParaRPr lang="fr-FR" sz="1200"/>
          </a:p>
          <a:p>
            <a:pPr algn="l"/>
            <a:r>
              <a:rPr lang="fr-FR" sz="1200" b="0">
                <a:solidFill>
                  <a:srgbClr val="115E59"/>
                </a:solidFill>
              </a:rPr>
              <a:t>  Résultats</a:t>
            </a:r>
            <a:endParaRPr lang="fr-FR" sz="1200"/>
          </a:p>
        </p:txBody>
      </p:sp>
      <p:sp>
        <p:nvSpPr>
          <p:cNvPr id="13" name="heading"/>
          <p:cNvSpPr/>
          <p:nvPr/>
        </p:nvSpPr>
        <p:spPr>
          <a:xfrm>
            <a:off x="3154680" y="23774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800" b="1">
                <a:solidFill>
                  <a:srgbClr val="172033"/>
                </a:solidFill>
              </a:rPr>
              <a:t>Classe Terminale — Mathématiques</a:t>
            </a:r>
            <a:endParaRPr lang="fr-FR" sz="1800"/>
          </a:p>
        </p:txBody>
      </p:sp>
      <p:sp>
        <p:nvSpPr>
          <p:cNvPr id="14" name="publish"/>
          <p:cNvSpPr/>
          <p:nvPr/>
        </p:nvSpPr>
        <p:spPr>
          <a:xfrm>
            <a:off x="8686800" y="2313432"/>
            <a:ext cx="173736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FFFFFF"/>
                </a:solidFill>
              </a:rPr>
              <a:t>+ Publier un contenu</a:t>
            </a:r>
            <a:endParaRPr lang="fr-FR" sz="1000"/>
          </a:p>
        </p:txBody>
      </p:sp>
      <p:sp>
        <p:nvSpPr>
          <p:cNvPr id="15" name="table"/>
          <p:cNvSpPr/>
          <p:nvPr/>
        </p:nvSpPr>
        <p:spPr>
          <a:xfrm>
            <a:off x="3154680" y="3063240"/>
            <a:ext cx="7223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344054"/>
                </a:solidFill>
              </a:rPr>
              <a:t>ACTIVITÉ                         ÉTAT              ACTION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Cours : Fonctions               Publié           Modifier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Devoir : Exercices 4            À corriger       Ouvrir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Quiz : Chapitre 2               28 réponses      Consulter</a:t>
            </a:r>
            <a:endParaRPr lang="fr-FR" sz="1100"/>
          </a:p>
        </p:txBody>
      </p:sp>
      <p:sp>
        <p:nvSpPr>
          <p:cNvPr id="16" name="notice"/>
          <p:cNvSpPr/>
          <p:nvPr/>
        </p:nvSpPr>
        <p:spPr>
          <a:xfrm>
            <a:off x="3154680" y="5532120"/>
            <a:ext cx="7223760" cy="347472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000" b="0">
                <a:solidFill>
                  <a:srgbClr val="067647"/>
                </a:solidFill>
              </a:rPr>
              <a:t>✓  28 élèves ont consulté le dernier contenu.</a:t>
            </a:r>
            <a:endParaRPr lang="fr-F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administration : garder la maîtrise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Une vue synthétique pour organiser l’établissement.</a:t>
            </a:r>
            <a:endParaRPr lang="fr-FR" sz="1200"/>
          </a:p>
        </p:txBody>
      </p:sp>
      <p:sp>
        <p:nvSpPr>
          <p:cNvPr id="10" name="app"/>
          <p:cNvSpPr/>
          <p:nvPr/>
        </p:nvSpPr>
        <p:spPr>
          <a:xfrm>
            <a:off x="822960" y="1600200"/>
            <a:ext cx="10607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sp>
        <p:nvSpPr>
          <p:cNvPr id="11" name="side"/>
          <p:cNvSpPr/>
          <p:nvPr/>
        </p:nvSpPr>
        <p:spPr>
          <a:xfrm>
            <a:off x="822960" y="1600200"/>
            <a:ext cx="196596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E2E8F0"/>
                </a:solidFill>
              </a:rPr>
              <a:t>  ADMINISTRATION</a:t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>  Tableau de bord</a:t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>  Utilisateurs</a:t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>  Classes &amp; niveaux</a:t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>  Matières</a:t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E2E8F0"/>
                </a:solidFill>
              </a:rPr>
              <a:t>  Rapports</a:t>
            </a:r>
            <a:endParaRPr lang="fr-FR" sz="1100"/>
          </a:p>
        </p:txBody>
      </p:sp>
      <p:sp>
        <p:nvSpPr>
          <p:cNvPr id="12" name="heading"/>
          <p:cNvSpPr/>
          <p:nvPr/>
        </p:nvSpPr>
        <p:spPr>
          <a:xfrm>
            <a:off x="315468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000" b="1">
                <a:solidFill>
                  <a:srgbClr val="172033"/>
                </a:solidFill>
              </a:rPr>
              <a:t>Vue d’ensemble</a:t>
            </a:r>
            <a:endParaRPr lang="fr-FR" sz="2000"/>
          </a:p>
        </p:txBody>
      </p:sp>
      <p:sp>
        <p:nvSpPr>
          <p:cNvPr id="13" name="metric1"/>
          <p:cNvSpPr/>
          <p:nvPr/>
        </p:nvSpPr>
        <p:spPr>
          <a:xfrm>
            <a:off x="3154680" y="2606040"/>
            <a:ext cx="1874519" cy="960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4F46E5"/>
                </a:solidFill>
              </a:rPr>
              <a:t>1 248</a:t>
            </a:r>
            <a:endParaRPr lang="fr-FR" sz="1500"/>
          </a:p>
          <a:p>
            <a:pPr algn="c"/>
            <a:r>
              <a:rPr lang="fr-FR" sz="1500" b="1">
                <a:solidFill>
                  <a:srgbClr val="4F46E5"/>
                </a:solidFill>
              </a:rPr>
              <a:t>Utilisateurs</a:t>
            </a:r>
            <a:endParaRPr lang="fr-FR" sz="1500"/>
          </a:p>
        </p:txBody>
      </p:sp>
      <p:sp>
        <p:nvSpPr>
          <p:cNvPr id="14" name="metric2"/>
          <p:cNvSpPr/>
          <p:nvPr/>
        </p:nvSpPr>
        <p:spPr>
          <a:xfrm>
            <a:off x="5230368" y="2606040"/>
            <a:ext cx="1874519" cy="960120"/>
          </a:xfrm>
          <a:prstGeom prst="roundRect">
            <a:avLst/>
          </a:prstGeom>
          <a:solidFill>
            <a:srgbClr val="ECFDF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067647"/>
                </a:solidFill>
              </a:rPr>
              <a:t>36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Classes</a:t>
            </a:r>
            <a:endParaRPr lang="fr-FR" sz="1500"/>
          </a:p>
        </p:txBody>
      </p:sp>
      <p:sp>
        <p:nvSpPr>
          <p:cNvPr id="15" name="metric3"/>
          <p:cNvSpPr/>
          <p:nvPr/>
        </p:nvSpPr>
        <p:spPr>
          <a:xfrm>
            <a:off x="7306056" y="2606040"/>
            <a:ext cx="1874519" cy="9601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B54708"/>
                </a:solidFill>
              </a:rPr>
              <a:t>94%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Comptes actifs</a:t>
            </a:r>
            <a:endParaRPr lang="fr-FR" sz="1500"/>
          </a:p>
        </p:txBody>
      </p:sp>
      <p:sp>
        <p:nvSpPr>
          <p:cNvPr id="16" name="metric4"/>
          <p:cNvSpPr/>
          <p:nvPr/>
        </p:nvSpPr>
        <p:spPr>
          <a:xfrm>
            <a:off x="9381744" y="2606040"/>
            <a:ext cx="1051560" cy="960120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1">
                <a:solidFill>
                  <a:srgbClr val="6941C6"/>
                </a:solidFill>
              </a:rPr>
              <a:t>18</a:t>
            </a:r>
            <a:endParaRPr lang="fr-FR" sz="1400"/>
          </a:p>
          <a:p>
            <a:pPr algn="c"/>
            <a:r>
              <a:rPr lang="fr-FR" sz="1400" b="1">
                <a:solidFill>
                  <a:srgbClr val="6941C6"/>
                </a:solidFill>
              </a:rPr>
              <a:t>Cours</a:t>
            </a:r>
            <a:endParaRPr lang="fr-FR" sz="1400"/>
          </a:p>
        </p:txBody>
      </p:sp>
      <p:sp>
        <p:nvSpPr>
          <p:cNvPr id="17" name="users"/>
          <p:cNvSpPr/>
          <p:nvPr/>
        </p:nvSpPr>
        <p:spPr>
          <a:xfrm>
            <a:off x="3154680" y="3977639"/>
            <a:ext cx="4114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344054"/>
                </a:solidFill>
              </a:rPr>
              <a:t>Dernières inscriptions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Sara B.     Élève      Active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Yassine M.  Professeur Actif</a:t>
            </a:r>
            <a:endParaRPr lang="fr-FR" sz="1100"/>
          </a:p>
        </p:txBody>
      </p:sp>
      <p:sp>
        <p:nvSpPr>
          <p:cNvPr id="18" name="actions"/>
          <p:cNvSpPr/>
          <p:nvPr/>
        </p:nvSpPr>
        <p:spPr>
          <a:xfrm>
            <a:off x="7543800" y="3977639"/>
            <a:ext cx="2880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l"/>
            <a:r>
              <a:rPr lang="fr-FR" sz="1100" b="0">
                <a:solidFill>
                  <a:srgbClr val="344054"/>
                </a:solidFill>
              </a:rPr>
              <a:t>Actions rapides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/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+ Créer une classe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+ Ajouter un utilisateur</a:t>
            </a:r>
            <a:endParaRPr lang="fr-FR" sz="1100"/>
          </a:p>
          <a:p>
            <a:pPr algn="l"/>
            <a:r>
              <a:rPr lang="fr-FR" sz="1100" b="0">
                <a:solidFill>
                  <a:srgbClr val="344054"/>
                </a:solidFill>
              </a:rPr>
              <a:t>+ Exporter un rapport</a:t>
            </a:r>
            <a:endParaRPr lang="fr-FR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Architecture fonctionnelle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Une base web Laravel conçue autour des usages scolaires.</a:t>
            </a:r>
            <a:endParaRPr lang="fr-FR" sz="1200"/>
          </a:p>
        </p:txBody>
      </p:sp>
      <p:sp>
        <p:nvSpPr>
          <p:cNvPr id="10" name="front"/>
          <p:cNvSpPr/>
          <p:nvPr/>
        </p:nvSpPr>
        <p:spPr>
          <a:xfrm>
            <a:off x="914400" y="2057400"/>
            <a:ext cx="2286000" cy="1920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3730A3"/>
                </a:solidFill>
              </a:rPr>
              <a:t>INTERFACES WEB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Élève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Enseignant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Administration</a:t>
            </a:r>
            <a:endParaRPr lang="fr-FR" sz="1500"/>
          </a:p>
        </p:txBody>
      </p:sp>
      <p:sp>
        <p:nvSpPr>
          <p:cNvPr id="11" name="arrow1"/>
          <p:cNvSpPr/>
          <p:nvPr/>
        </p:nvSpPr>
        <p:spPr>
          <a:xfrm>
            <a:off x="3429000" y="283464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2600" b="1">
                <a:solidFill>
                  <a:srgbClr val="4F46E5"/>
                </a:solidFill>
              </a:rPr>
              <a:t>→</a:t>
            </a:r>
            <a:endParaRPr lang="fr-FR" sz="2600"/>
          </a:p>
        </p:txBody>
      </p:sp>
      <p:sp>
        <p:nvSpPr>
          <p:cNvPr id="12" name="core"/>
          <p:cNvSpPr/>
          <p:nvPr/>
        </p:nvSpPr>
        <p:spPr>
          <a:xfrm>
            <a:off x="4617720" y="2057400"/>
            <a:ext cx="2743200" cy="192024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6F4C5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067647"/>
                </a:solidFill>
              </a:rPr>
              <a:t>APPLICATION LARAVEL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Authentification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Gestion des rôles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Logique pédagogique</a:t>
            </a:r>
            <a:endParaRPr lang="fr-FR" sz="1500"/>
          </a:p>
        </p:txBody>
      </p:sp>
      <p:sp>
        <p:nvSpPr>
          <p:cNvPr id="13" name="arrow2"/>
          <p:cNvSpPr/>
          <p:nvPr/>
        </p:nvSpPr>
        <p:spPr>
          <a:xfrm>
            <a:off x="7589520" y="283464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2600" b="1">
                <a:solidFill>
                  <a:srgbClr val="0E9384"/>
                </a:solidFill>
              </a:rPr>
              <a:t>→</a:t>
            </a:r>
            <a:endParaRPr lang="fr-FR" sz="2600"/>
          </a:p>
        </p:txBody>
      </p:sp>
      <p:sp>
        <p:nvSpPr>
          <p:cNvPr id="14" name="data"/>
          <p:cNvSpPr/>
          <p:nvPr/>
        </p:nvSpPr>
        <p:spPr>
          <a:xfrm>
            <a:off x="8778240" y="2057400"/>
            <a:ext cx="2286000" cy="192024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EDF89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B54708"/>
                </a:solidFill>
              </a:rPr>
              <a:t>DONNÉES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Utilisateurs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Cours &amp; modules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Devoirs &amp; résultats</a:t>
            </a:r>
            <a:endParaRPr lang="fr-FR" sz="1500"/>
          </a:p>
        </p:txBody>
      </p:sp>
      <p:sp>
        <p:nvSpPr>
          <p:cNvPr id="15" name="note"/>
          <p:cNvSpPr/>
          <p:nvPr/>
        </p:nvSpPr>
        <p:spPr>
          <a:xfrm>
            <a:off x="1325880" y="4709160"/>
            <a:ext cx="9418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400" b="0">
                <a:solidFill>
                  <a:srgbClr val="475467"/>
                </a:solidFill>
              </a:rPr>
              <a:t>Une plateforme centralisée, sécurisée et évolutive pour la vie scolaire.</a:t>
            </a:r>
            <a:endParaRPr lang="fr-F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SchoolBridge en résumé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Une expérience numérique utile, lisible et orientée réussite.</a:t>
            </a:r>
            <a:endParaRPr lang="fr-FR" sz="1200"/>
          </a:p>
        </p:txBody>
      </p:sp>
      <p:sp>
        <p:nvSpPr>
          <p:cNvPr id="10" name="summary"/>
          <p:cNvSpPr/>
          <p:nvPr/>
        </p:nvSpPr>
        <p:spPr>
          <a:xfrm>
            <a:off x="868680" y="1691640"/>
            <a:ext cx="105613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1" name="point1"/>
          <p:cNvSpPr/>
          <p:nvPr/>
        </p:nvSpPr>
        <p:spPr>
          <a:xfrm>
            <a:off x="1325880" y="2103120"/>
            <a:ext cx="2743200" cy="16916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4F46E5"/>
                </a:solidFill>
              </a:rPr>
              <a:t>01</a:t>
            </a:r>
            <a:endParaRPr lang="fr-FR" sz="1500"/>
          </a:p>
          <a:p>
            <a:pPr algn="c"/>
            <a:r>
              <a:rPr lang="fr-FR" sz="1500" b="1">
                <a:solidFill>
                  <a:srgbClr val="4F46E5"/>
                </a:solidFill>
              </a:rPr>
              <a:t>Apprendre</a:t>
            </a:r>
            <a:endParaRPr lang="fr-FR" sz="1500"/>
          </a:p>
          <a:p>
            <a:pPr algn="c"/>
            <a:r>
              <a:rPr lang="fr-FR" sz="1500" b="1">
                <a:solidFill>
                  <a:srgbClr val="4F46E5"/>
                </a:solidFill>
              </a:rPr>
              <a:t>Accès simple aux contenus</a:t>
            </a:r>
            <a:endParaRPr lang="fr-FR" sz="1500"/>
          </a:p>
        </p:txBody>
      </p:sp>
      <p:sp>
        <p:nvSpPr>
          <p:cNvPr id="12" name="point2"/>
          <p:cNvSpPr/>
          <p:nvPr/>
        </p:nvSpPr>
        <p:spPr>
          <a:xfrm>
            <a:off x="4709160" y="2103120"/>
            <a:ext cx="2743200" cy="169164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067647"/>
                </a:solidFill>
              </a:rPr>
              <a:t>02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Accompagner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Suivi pédagogique précis</a:t>
            </a:r>
            <a:endParaRPr lang="fr-FR" sz="1500"/>
          </a:p>
        </p:txBody>
      </p:sp>
      <p:sp>
        <p:nvSpPr>
          <p:cNvPr id="13" name="point3"/>
          <p:cNvSpPr/>
          <p:nvPr/>
        </p:nvSpPr>
        <p:spPr>
          <a:xfrm>
            <a:off x="8092440" y="2103120"/>
            <a:ext cx="2743200" cy="169164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B54708"/>
                </a:solidFill>
              </a:rPr>
              <a:t>03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Piloter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Gestion centralisée</a:t>
            </a:r>
            <a:endParaRPr lang="fr-FR" sz="1500"/>
          </a:p>
        </p:txBody>
      </p:sp>
      <p:sp>
        <p:nvSpPr>
          <p:cNvPr id="14" name="thanks"/>
          <p:cNvSpPr/>
          <p:nvPr/>
        </p:nvSpPr>
        <p:spPr>
          <a:xfrm>
            <a:off x="2468880" y="5349240"/>
            <a:ext cx="7223760" cy="47548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600" b="1">
                <a:solidFill>
                  <a:srgbClr val="FFFFFF"/>
                </a:solidFill>
              </a:rPr>
              <a:t>Merci — Questions &amp; échanges</a:t>
            </a:r>
            <a:endParaRPr lang="fr-FR" sz="16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SchoolBridge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Présentation SchoolBridge</dc:title>
  <dc:creator>Codex</dc:creator>
  <dcterms:created xsi:type="dcterms:W3CDTF">2026-07-24T00:00:00Z</dcterms:created>
</cp:coreProperties>
</file>