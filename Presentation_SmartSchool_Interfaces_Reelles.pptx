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mart School Academy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in.png"/><Relationship Id="rId3" Type="http://schemas.openxmlformats.org/officeDocument/2006/relationships/image" Target="../media/register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in.png"/><Relationship Id="rId3" Type="http://schemas.openxmlformats.org/officeDocument/2006/relationships/image" Target="../media/register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in.png"/><Relationship Id="rId3" Type="http://schemas.openxmlformats.org/officeDocument/2006/relationships/image" Target="../media/register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in.png"/><Relationship Id="rId3" Type="http://schemas.openxmlformats.org/officeDocument/2006/relationships/image" Target="../media/register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in.png"/><Relationship Id="rId3" Type="http://schemas.openxmlformats.org/officeDocument/2006/relationships/image" Target="../media/register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/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2" name="Accent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3" name="Title"/>
          <p:cNvSpPr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2700" b="1">
                <a:solidFill>
                  <a:srgbClr val="172033"/>
                </a:solidFill>
              </a:rPr>
              <a:t>Smart School Academy</a:t>
            </a:r>
            <a:endParaRPr lang="fr-FR" sz="2700"/>
          </a:p>
        </p:txBody>
      </p:sp>
      <p:sp>
        <p:nvSpPr>
          <p:cNvPr id="4" name="Line"/>
          <p:cNvSpPr/>
          <p:nvPr/>
        </p:nvSpPr>
        <p:spPr>
          <a:xfrm>
            <a:off x="640080" y="1042415"/>
            <a:ext cx="10789920" cy="27432"/>
          </a:xfrm>
          <a:prstGeom prst="rect">
            <a:avLst/>
          </a:prstGeom>
          <a:solidFill>
            <a:srgbClr val="D9E2F2"/>
          </a:solidFill>
          <a:ln>
            <a:noFill/>
          </a:ln>
        </p:spPr>
      </p:sp>
      <p:sp>
        <p:nvSpPr>
          <p:cNvPr id="5" name="Subtitle"/>
          <p:cNvSpPr/>
          <p:nvPr/>
        </p:nvSpPr>
        <p:spPr>
          <a:xfrm>
            <a:off x="658368" y="114300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1200" b="0">
                <a:solidFill>
                  <a:srgbClr val="667085"/>
                </a:solidFill>
              </a:rPr>
              <a:t>Présentation actualisée à partir des interfaces réellement présentes dans le projet</a:t>
            </a:r>
            <a:endParaRPr lang="fr-FR" sz="1200"/>
          </a:p>
        </p:txBody>
      </p:sp>
      <p:sp>
        <p:nvSpPr>
          <p:cNvPr id="10" name="hero"/>
          <p:cNvSpPr/>
          <p:nvPr/>
        </p:nvSpPr>
        <p:spPr>
          <a:xfrm>
            <a:off x="822960" y="1645920"/>
            <a:ext cx="10561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2"/>
            </a:solidFill>
          </a:ln>
        </p:spPr>
      </p:sp>
      <p:sp>
        <p:nvSpPr>
          <p:cNvPr id="11" name="tag"/>
          <p:cNvSpPr/>
          <p:nvPr/>
        </p:nvSpPr>
        <p:spPr>
          <a:xfrm>
            <a:off x="1234440" y="2103120"/>
            <a:ext cx="2926080" cy="384048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txBody>
          <a:bodyPr wrap="square" lIns="127000" rIns="127000" tIns="63500" bIns="63500"/>
          <a:lstStyle/>
          <a:p>
            <a:pPr algn="c"/>
            <a:r>
              <a:rPr lang="fr-FR" sz="1000" b="1">
                <a:solidFill>
                  <a:srgbClr val="4F46E5"/>
                </a:solidFill>
              </a:rPr>
              <a:t>INTERFACES RÉELLES DU PROJET</a:t>
            </a:r>
            <a:endParaRPr lang="fr-FR" sz="1000"/>
          </a:p>
        </p:txBody>
      </p:sp>
      <p:sp>
        <p:nvSpPr>
          <p:cNvPr id="12" name="headline"/>
          <p:cNvSpPr/>
          <p:nvPr/>
        </p:nvSpPr>
        <p:spPr>
          <a:xfrm>
            <a:off x="1234440" y="2788920"/>
            <a:ext cx="4343400" cy="123444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2600" b="1">
                <a:solidFill>
                  <a:srgbClr val="172033"/>
                </a:solidFill>
              </a:rPr>
              <a:t>Une plateforme éducative</a:t>
            </a:r>
            <a:endParaRPr lang="fr-FR" sz="2600"/>
          </a:p>
          <a:p>
            <a:pPr algn="l"/>
            <a:r>
              <a:rPr lang="fr-FR" sz="2600" b="1">
                <a:solidFill>
                  <a:srgbClr val="172033"/>
                </a:solidFill>
              </a:rPr>
              <a:t>moderne et structurée.</a:t>
            </a:r>
            <a:endParaRPr lang="fr-FR" sz="2600"/>
          </a:p>
        </p:txBody>
      </p:sp>
      <p:sp>
        <p:nvSpPr>
          <p:cNvPr id="13" name="caption"/>
          <p:cNvSpPr/>
          <p:nvPr/>
        </p:nvSpPr>
        <p:spPr>
          <a:xfrm>
            <a:off x="1234440" y="4343400"/>
            <a:ext cx="4343400" cy="59436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1400" b="0">
                <a:solidFill>
                  <a:srgbClr val="667085"/>
                </a:solidFill>
              </a:rPr>
              <a:t>Les écrans suivants sont des captures des pages locales de votre application.</a:t>
            </a:r>
            <a:endParaRPr lang="fr-FR" sz="1400"/>
          </a:p>
        </p:txBody>
      </p:sp>
      <p:pic>
        <p:nvPicPr>
          <p:cNvPr id="14" name="Interface inscription"/>
          <p:cNvPicPr/>
          <p:nvPr/>
        </p:nvPicPr>
        <p:blipFill>
          <a:blip r:embed="rId3"/>
          <a:stretch>
            <a:fillRect/>
          </a:stretch>
        </p:blipFill>
        <p:spPr>
          <a:xfrm>
            <a:off x="6080760" y="1965960"/>
            <a:ext cx="4709160" cy="2953512"/>
          </a:xfrm>
          <a:prstGeom prst="rect">
            <a:avLst/>
          </a:prstGeom>
          <a:ln>
            <a:noFill/>
          </a:ln>
        </p:spPr>
      </p:pic>
      <p:sp>
        <p:nvSpPr>
          <p:cNvPr id="15" name="badge"/>
          <p:cNvSpPr/>
          <p:nvPr/>
        </p:nvSpPr>
        <p:spPr>
          <a:xfrm>
            <a:off x="6080760" y="5166360"/>
            <a:ext cx="4709160" cy="411480"/>
          </a:xfrm>
          <a:prstGeom prst="roundRect">
            <a:avLst/>
          </a:prstGeom>
          <a:solidFill>
            <a:srgbClr val="172033"/>
          </a:solidFill>
          <a:ln>
            <a:noFill/>
          </a:ln>
        </p:spPr>
        <p:txBody>
          <a:bodyPr wrap="square" lIns="127000" rIns="127000" tIns="63500" bIns="63500"/>
          <a:lstStyle/>
          <a:p>
            <a:pPr algn="c"/>
            <a:r>
              <a:rPr lang="fr-FR" sz="1000" b="1">
                <a:solidFill>
                  <a:srgbClr val="FFFFFF"/>
                </a:solidFill>
              </a:rPr>
              <a:t>Smart School Academy — interface d’inscription</a:t>
            </a:r>
            <a:endParaRPr lang="fr-FR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/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2" name="Accent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3" name="Title"/>
          <p:cNvSpPr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2700" b="1">
                <a:solidFill>
                  <a:srgbClr val="172033"/>
                </a:solidFill>
              </a:rPr>
              <a:t>Interface réelle : connexion</a:t>
            </a:r>
            <a:endParaRPr lang="fr-FR" sz="2700"/>
          </a:p>
        </p:txBody>
      </p:sp>
      <p:sp>
        <p:nvSpPr>
          <p:cNvPr id="4" name="Line"/>
          <p:cNvSpPr/>
          <p:nvPr/>
        </p:nvSpPr>
        <p:spPr>
          <a:xfrm>
            <a:off x="640080" y="1042415"/>
            <a:ext cx="10789920" cy="27432"/>
          </a:xfrm>
          <a:prstGeom prst="rect">
            <a:avLst/>
          </a:prstGeom>
          <a:solidFill>
            <a:srgbClr val="D9E2F2"/>
          </a:solidFill>
          <a:ln>
            <a:noFill/>
          </a:ln>
        </p:spPr>
      </p:sp>
      <p:sp>
        <p:nvSpPr>
          <p:cNvPr id="5" name="Subtitle"/>
          <p:cNvSpPr/>
          <p:nvPr/>
        </p:nvSpPr>
        <p:spPr>
          <a:xfrm>
            <a:off x="658368" y="114300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1200" b="0">
                <a:solidFill>
                  <a:srgbClr val="667085"/>
                </a:solidFill>
              </a:rPr>
              <a:t>Page /login — accès sécurisé à la plateforme</a:t>
            </a:r>
            <a:endParaRPr lang="fr-FR" sz="1200"/>
          </a:p>
        </p:txBody>
      </p:sp>
      <p:sp>
        <p:nvSpPr>
          <p:cNvPr id="10" name="frame"/>
          <p:cNvSpPr/>
          <p:nvPr/>
        </p:nvSpPr>
        <p:spPr>
          <a:xfrm>
            <a:off x="594360" y="1417320"/>
            <a:ext cx="11018520" cy="5148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2"/>
            </a:solidFill>
          </a:ln>
        </p:spPr>
      </p:sp>
      <p:pic>
        <p:nvPicPr>
          <p:cNvPr id="11" name="Capture page connexion"/>
          <p:cNvPicPr/>
          <p:nvPr/>
        </p:nvPicPr>
        <p:blipFill>
          <a:blip r:embed="rId2"/>
          <a:stretch>
            <a:fillRect/>
          </a:stretch>
        </p:blipFill>
        <p:spPr>
          <a:xfrm>
            <a:off x="749808" y="1572768"/>
            <a:ext cx="10716768" cy="4828032"/>
          </a:xfrm>
          <a:prstGeom prst="rect">
            <a:avLst/>
          </a:prstGeom>
          <a:ln>
            <a:noFill/>
          </a:ln>
        </p:spPr>
      </p:pic>
      <p:sp>
        <p:nvSpPr>
          <p:cNvPr id="12" name="label"/>
          <p:cNvSpPr/>
          <p:nvPr/>
        </p:nvSpPr>
        <p:spPr>
          <a:xfrm>
            <a:off x="932688" y="5961888"/>
            <a:ext cx="2788920" cy="292608"/>
          </a:xfrm>
          <a:prstGeom prst="roundRect">
            <a:avLst/>
          </a:prstGeom>
          <a:solidFill>
            <a:srgbClr val="172033"/>
          </a:solidFill>
          <a:ln>
            <a:noFill/>
          </a:ln>
        </p:spPr>
        <p:txBody>
          <a:bodyPr wrap="square" lIns="127000" rIns="127000" tIns="63500" bIns="63500"/>
          <a:lstStyle/>
          <a:p>
            <a:pPr algn="c"/>
            <a:r>
              <a:rPr lang="fr-FR" sz="900" b="1">
                <a:solidFill>
                  <a:srgbClr val="FFFFFF"/>
                </a:solidFill>
              </a:rPr>
              <a:t>CAPTURE RÉELLE — /login</a:t>
            </a:r>
            <a:endParaRPr lang="fr-FR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/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2" name="Accent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3" name="Title"/>
          <p:cNvSpPr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2700" b="1">
                <a:solidFill>
                  <a:srgbClr val="172033"/>
                </a:solidFill>
              </a:rPr>
              <a:t>Interface réelle : création de compte</a:t>
            </a:r>
            <a:endParaRPr lang="fr-FR" sz="2700"/>
          </a:p>
        </p:txBody>
      </p:sp>
      <p:sp>
        <p:nvSpPr>
          <p:cNvPr id="4" name="Line"/>
          <p:cNvSpPr/>
          <p:nvPr/>
        </p:nvSpPr>
        <p:spPr>
          <a:xfrm>
            <a:off x="640080" y="1042415"/>
            <a:ext cx="10789920" cy="27432"/>
          </a:xfrm>
          <a:prstGeom prst="rect">
            <a:avLst/>
          </a:prstGeom>
          <a:solidFill>
            <a:srgbClr val="D9E2F2"/>
          </a:solidFill>
          <a:ln>
            <a:noFill/>
          </a:ln>
        </p:spPr>
      </p:sp>
      <p:sp>
        <p:nvSpPr>
          <p:cNvPr id="5" name="Subtitle"/>
          <p:cNvSpPr/>
          <p:nvPr/>
        </p:nvSpPr>
        <p:spPr>
          <a:xfrm>
            <a:off x="658368" y="114300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1200" b="0">
                <a:solidFill>
                  <a:srgbClr val="667085"/>
                </a:solidFill>
              </a:rPr>
              <a:t>Page /register — inscription et personnalisation du parcours</a:t>
            </a:r>
            <a:endParaRPr lang="fr-FR" sz="1200"/>
          </a:p>
        </p:txBody>
      </p:sp>
      <p:sp>
        <p:nvSpPr>
          <p:cNvPr id="10" name="frame"/>
          <p:cNvSpPr/>
          <p:nvPr/>
        </p:nvSpPr>
        <p:spPr>
          <a:xfrm>
            <a:off x="594360" y="1417320"/>
            <a:ext cx="11018520" cy="5148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2"/>
            </a:solidFill>
          </a:ln>
        </p:spPr>
      </p:sp>
      <p:pic>
        <p:nvPicPr>
          <p:cNvPr id="11" name="Capture page inscription"/>
          <p:cNvPicPr/>
          <p:nvPr/>
        </p:nvPicPr>
        <p:blipFill>
          <a:blip r:embed="rId3"/>
          <a:stretch>
            <a:fillRect/>
          </a:stretch>
        </p:blipFill>
        <p:spPr>
          <a:xfrm>
            <a:off x="749808" y="1572768"/>
            <a:ext cx="10716768" cy="4828032"/>
          </a:xfrm>
          <a:prstGeom prst="rect">
            <a:avLst/>
          </a:prstGeom>
          <a:ln>
            <a:noFill/>
          </a:ln>
        </p:spPr>
      </p:pic>
      <p:sp>
        <p:nvSpPr>
          <p:cNvPr id="12" name="label"/>
          <p:cNvSpPr/>
          <p:nvPr/>
        </p:nvSpPr>
        <p:spPr>
          <a:xfrm>
            <a:off x="932688" y="5961888"/>
            <a:ext cx="2971800" cy="292608"/>
          </a:xfrm>
          <a:prstGeom prst="roundRect">
            <a:avLst/>
          </a:prstGeom>
          <a:solidFill>
            <a:srgbClr val="172033"/>
          </a:solidFill>
          <a:ln>
            <a:noFill/>
          </a:ln>
        </p:spPr>
        <p:txBody>
          <a:bodyPr wrap="square" lIns="127000" rIns="127000" tIns="63500" bIns="63500"/>
          <a:lstStyle/>
          <a:p>
            <a:pPr algn="c"/>
            <a:r>
              <a:rPr lang="fr-FR" sz="900" b="1">
                <a:solidFill>
                  <a:srgbClr val="FFFFFF"/>
                </a:solidFill>
              </a:rPr>
              <a:t>CAPTURE RÉELLE — /register</a:t>
            </a:r>
            <a:endParaRPr lang="fr-FR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/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2" name="Accent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3" name="Title"/>
          <p:cNvSpPr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2700" b="1">
                <a:solidFill>
                  <a:srgbClr val="172033"/>
                </a:solidFill>
              </a:rPr>
              <a:t>Parcours d’accès : interfaces réelles</a:t>
            </a:r>
            <a:endParaRPr lang="fr-FR" sz="2700"/>
          </a:p>
        </p:txBody>
      </p:sp>
      <p:sp>
        <p:nvSpPr>
          <p:cNvPr id="4" name="Line"/>
          <p:cNvSpPr/>
          <p:nvPr/>
        </p:nvSpPr>
        <p:spPr>
          <a:xfrm>
            <a:off x="640080" y="1042415"/>
            <a:ext cx="10789920" cy="27432"/>
          </a:xfrm>
          <a:prstGeom prst="rect">
            <a:avLst/>
          </a:prstGeom>
          <a:solidFill>
            <a:srgbClr val="D9E2F2"/>
          </a:solidFill>
          <a:ln>
            <a:noFill/>
          </a:ln>
        </p:spPr>
      </p:sp>
      <p:sp>
        <p:nvSpPr>
          <p:cNvPr id="5" name="Subtitle"/>
          <p:cNvSpPr/>
          <p:nvPr/>
        </p:nvSpPr>
        <p:spPr>
          <a:xfrm>
            <a:off x="658368" y="114300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1200" b="0">
                <a:solidFill>
                  <a:srgbClr val="667085"/>
                </a:solidFill>
              </a:rPr>
              <a:t>Deux points d’entrée conçus avec une identité visuelle cohérente.</a:t>
            </a:r>
            <a:endParaRPr lang="fr-FR" sz="1200"/>
          </a:p>
        </p:txBody>
      </p:sp>
      <p:sp>
        <p:nvSpPr>
          <p:cNvPr id="10" name="login panel"/>
          <p:cNvSpPr/>
          <p:nvPr/>
        </p:nvSpPr>
        <p:spPr>
          <a:xfrm>
            <a:off x="685800" y="1554480"/>
            <a:ext cx="53492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2"/>
            </a:solidFill>
          </a:ln>
        </p:spPr>
      </p:sp>
      <p:pic>
        <p:nvPicPr>
          <p:cNvPr id="11" name="Connexion réelle"/>
          <p:cNvPicPr/>
          <p:nvPr/>
        </p:nvPicPr>
        <p:blipFill>
          <a:blip r:embed="rId2"/>
          <a:stretch>
            <a:fillRect/>
          </a:stretch>
        </p:blipFill>
        <p:spPr>
          <a:xfrm>
            <a:off x="841248" y="1719072"/>
            <a:ext cx="5038344" cy="3639312"/>
          </a:xfrm>
          <a:prstGeom prst="rect">
            <a:avLst/>
          </a:prstGeom>
          <a:ln>
            <a:noFill/>
          </a:ln>
        </p:spPr>
      </p:pic>
      <p:sp>
        <p:nvSpPr>
          <p:cNvPr id="12" name="login text"/>
          <p:cNvSpPr/>
          <p:nvPr/>
        </p:nvSpPr>
        <p:spPr>
          <a:xfrm>
            <a:off x="841248" y="5504688"/>
            <a:ext cx="5038344" cy="27432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c"/>
            <a:r>
              <a:rPr lang="fr-FR" sz="1100" b="1">
                <a:solidFill>
                  <a:srgbClr val="344054"/>
                </a:solidFill>
              </a:rPr>
              <a:t>Connexion : accès à l’espace personnel.</a:t>
            </a:r>
            <a:endParaRPr lang="fr-FR" sz="1100"/>
          </a:p>
        </p:txBody>
      </p:sp>
      <p:sp>
        <p:nvSpPr>
          <p:cNvPr id="13" name="register panel"/>
          <p:cNvSpPr/>
          <p:nvPr/>
        </p:nvSpPr>
        <p:spPr>
          <a:xfrm>
            <a:off x="6172200" y="1554480"/>
            <a:ext cx="53492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2"/>
            </a:solidFill>
          </a:ln>
        </p:spPr>
      </p:sp>
      <p:pic>
        <p:nvPicPr>
          <p:cNvPr id="14" name="Inscription réelle"/>
          <p:cNvPicPr/>
          <p:nvPr/>
        </p:nvPicPr>
        <p:blipFill>
          <a:blip r:embed="rId3"/>
          <a:stretch>
            <a:fillRect/>
          </a:stretch>
        </p:blipFill>
        <p:spPr>
          <a:xfrm>
            <a:off x="6327648" y="1719072"/>
            <a:ext cx="5038344" cy="3639312"/>
          </a:xfrm>
          <a:prstGeom prst="rect">
            <a:avLst/>
          </a:prstGeom>
          <a:ln>
            <a:noFill/>
          </a:ln>
        </p:spPr>
      </p:pic>
      <p:sp>
        <p:nvSpPr>
          <p:cNvPr id="15" name="register text"/>
          <p:cNvSpPr/>
          <p:nvPr/>
        </p:nvSpPr>
        <p:spPr>
          <a:xfrm>
            <a:off x="6327648" y="5504688"/>
            <a:ext cx="5038344" cy="27432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c"/>
            <a:r>
              <a:rPr lang="fr-FR" sz="1100" b="1">
                <a:solidFill>
                  <a:srgbClr val="344054"/>
                </a:solidFill>
              </a:rPr>
              <a:t>Inscription : création d’un parcours personnalisé.</a:t>
            </a:r>
            <a:endParaRPr lang="fr-FR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/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2" name="Accent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3" name="Title"/>
          <p:cNvSpPr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2700" b="1">
                <a:solidFill>
                  <a:srgbClr val="172033"/>
                </a:solidFill>
              </a:rPr>
              <a:t>Fonctionnalités couvertes par l’application</a:t>
            </a:r>
            <a:endParaRPr lang="fr-FR" sz="2700"/>
          </a:p>
        </p:txBody>
      </p:sp>
      <p:sp>
        <p:nvSpPr>
          <p:cNvPr id="4" name="Line"/>
          <p:cNvSpPr/>
          <p:nvPr/>
        </p:nvSpPr>
        <p:spPr>
          <a:xfrm>
            <a:off x="640080" y="1042415"/>
            <a:ext cx="10789920" cy="27432"/>
          </a:xfrm>
          <a:prstGeom prst="rect">
            <a:avLst/>
          </a:prstGeom>
          <a:solidFill>
            <a:srgbClr val="D9E2F2"/>
          </a:solidFill>
          <a:ln>
            <a:noFill/>
          </a:ln>
        </p:spPr>
      </p:sp>
      <p:sp>
        <p:nvSpPr>
          <p:cNvPr id="5" name="Subtitle"/>
          <p:cNvSpPr/>
          <p:nvPr/>
        </p:nvSpPr>
        <p:spPr>
          <a:xfrm>
            <a:off x="658368" y="114300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wrap="square" lIns="127000" rIns="127000" tIns="63500" bIns="63500"/>
          <a:lstStyle/>
          <a:p>
            <a:pPr algn="l"/>
            <a:r>
              <a:rPr lang="fr-FR" sz="1200" b="0">
                <a:solidFill>
                  <a:srgbClr val="667085"/>
                </a:solidFill>
              </a:rPr>
              <a:t>Les interfaces authentifiées prolongent cette expérience avec des espaces adaptés aux rôles.</a:t>
            </a:r>
            <a:endParaRPr lang="fr-FR" sz="1200"/>
          </a:p>
        </p:txBody>
      </p:sp>
      <p:sp>
        <p:nvSpPr>
          <p:cNvPr id="10" name="card 1"/>
          <p:cNvSpPr/>
          <p:nvPr/>
        </p:nvSpPr>
        <p:spPr>
          <a:xfrm>
            <a:off x="914400" y="1828800"/>
            <a:ext cx="2971800" cy="315468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txBody>
          <a:bodyPr wrap="square" lIns="127000" rIns="127000" tIns="63500" bIns="63500"/>
          <a:lstStyle/>
          <a:p>
            <a:pPr algn="c"/>
            <a:r>
              <a:rPr lang="fr-FR" sz="1500" b="1">
                <a:solidFill>
                  <a:srgbClr val="3730A3"/>
                </a:solidFill>
              </a:rPr>
              <a:t>ÉLÈVES</a:t>
            </a:r>
            <a:endParaRPr lang="fr-FR" sz="1500"/>
          </a:p>
          <a:p>
            <a:pPr algn="c"/>
            <a:r>
              <a:rPr lang="fr-FR" sz="1500" b="1">
                <a:solidFill>
                  <a:srgbClr val="3730A3"/>
                </a:solidFill>
              </a:rPr>
              <a:t/>
            </a:r>
            <a:endParaRPr lang="fr-FR" sz="1500"/>
          </a:p>
          <a:p>
            <a:pPr algn="c"/>
            <a:r>
              <a:rPr lang="fr-FR" sz="1500" b="1">
                <a:solidFill>
                  <a:srgbClr val="3730A3"/>
                </a:solidFill>
              </a:rPr>
              <a:t>Cours et ressources</a:t>
            </a:r>
            <a:endParaRPr lang="fr-FR" sz="1500"/>
          </a:p>
          <a:p>
            <a:pPr algn="c"/>
            <a:r>
              <a:rPr lang="fr-FR" sz="1500" b="1">
                <a:solidFill>
                  <a:srgbClr val="3730A3"/>
                </a:solidFill>
              </a:rPr>
              <a:t>Tests et devoirs</a:t>
            </a:r>
            <a:endParaRPr lang="fr-FR" sz="1500"/>
          </a:p>
          <a:p>
            <a:pPr algn="c"/>
            <a:r>
              <a:rPr lang="fr-FR" sz="1500" b="1">
                <a:solidFill>
                  <a:srgbClr val="3730A3"/>
                </a:solidFill>
              </a:rPr>
              <a:t>Lives et messagerie</a:t>
            </a:r>
            <a:endParaRPr lang="fr-FR" sz="1500"/>
          </a:p>
          <a:p>
            <a:pPr algn="c"/>
            <a:r>
              <a:rPr lang="fr-FR" sz="1500" b="1">
                <a:solidFill>
                  <a:srgbClr val="3730A3"/>
                </a:solidFill>
              </a:rPr>
              <a:t>Suivi du parcours</a:t>
            </a:r>
            <a:endParaRPr lang="fr-FR" sz="1500"/>
          </a:p>
        </p:txBody>
      </p:sp>
      <p:sp>
        <p:nvSpPr>
          <p:cNvPr id="11" name="card 2"/>
          <p:cNvSpPr/>
          <p:nvPr/>
        </p:nvSpPr>
        <p:spPr>
          <a:xfrm>
            <a:off x="4617720" y="1828800"/>
            <a:ext cx="2971800" cy="3154680"/>
          </a:xfrm>
          <a:prstGeom prst="roundRect">
            <a:avLst/>
          </a:prstGeom>
          <a:solidFill>
            <a:srgbClr val="E6FFFA"/>
          </a:solidFill>
          <a:ln>
            <a:noFill/>
          </a:ln>
        </p:spPr>
        <p:txBody>
          <a:bodyPr wrap="square" lIns="127000" rIns="127000" tIns="63500" bIns="63500"/>
          <a:lstStyle/>
          <a:p>
            <a:pPr algn="c"/>
            <a:r>
              <a:rPr lang="fr-FR" sz="1500" b="1">
                <a:solidFill>
                  <a:srgbClr val="067647"/>
                </a:solidFill>
              </a:rPr>
              <a:t>ENSEIGNANTS</a:t>
            </a:r>
            <a:endParaRPr lang="fr-FR" sz="1500"/>
          </a:p>
          <a:p>
            <a:pPr algn="c"/>
            <a:r>
              <a:rPr lang="fr-FR" sz="1500" b="1">
                <a:solidFill>
                  <a:srgbClr val="067647"/>
                </a:solidFill>
              </a:rPr>
              <a:t/>
            </a:r>
            <a:endParaRPr lang="fr-FR" sz="1500"/>
          </a:p>
          <a:p>
            <a:pPr algn="c"/>
            <a:r>
              <a:rPr lang="fr-FR" sz="1500" b="1">
                <a:solidFill>
                  <a:srgbClr val="067647"/>
                </a:solidFill>
              </a:rPr>
              <a:t>Gestion des cours</a:t>
            </a:r>
            <a:endParaRPr lang="fr-FR" sz="1500"/>
          </a:p>
          <a:p>
            <a:pPr algn="c"/>
            <a:r>
              <a:rPr lang="fr-FR" sz="1500" b="1">
                <a:solidFill>
                  <a:srgbClr val="067647"/>
                </a:solidFill>
              </a:rPr>
              <a:t>Devoirs et évaluations</a:t>
            </a:r>
            <a:endParaRPr lang="fr-FR" sz="1500"/>
          </a:p>
          <a:p>
            <a:pPr algn="c"/>
            <a:r>
              <a:rPr lang="fr-FR" sz="1500" b="1">
                <a:solidFill>
                  <a:srgbClr val="067647"/>
                </a:solidFill>
              </a:rPr>
              <a:t>Classes et planning</a:t>
            </a:r>
            <a:endParaRPr lang="fr-FR" sz="1500"/>
          </a:p>
          <a:p>
            <a:pPr algn="c"/>
            <a:r>
              <a:rPr lang="fr-FR" sz="1500" b="1">
                <a:solidFill>
                  <a:srgbClr val="067647"/>
                </a:solidFill>
              </a:rPr>
              <a:t>Communication</a:t>
            </a:r>
            <a:endParaRPr lang="fr-FR" sz="1500"/>
          </a:p>
        </p:txBody>
      </p:sp>
      <p:sp>
        <p:nvSpPr>
          <p:cNvPr id="12" name="card 3"/>
          <p:cNvSpPr/>
          <p:nvPr/>
        </p:nvSpPr>
        <p:spPr>
          <a:xfrm>
            <a:off x="8321040" y="1828800"/>
            <a:ext cx="2971800" cy="315468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txBody>
          <a:bodyPr wrap="square" lIns="127000" rIns="127000" tIns="63500" bIns="63500"/>
          <a:lstStyle/>
          <a:p>
            <a:pPr algn="c"/>
            <a:r>
              <a:rPr lang="fr-FR" sz="1500" b="1">
                <a:solidFill>
                  <a:srgbClr val="B54708"/>
                </a:solidFill>
              </a:rPr>
              <a:t>ADMINISTRATION</a:t>
            </a:r>
            <a:endParaRPr lang="fr-FR" sz="1500"/>
          </a:p>
          <a:p>
            <a:pPr algn="c"/>
            <a:r>
              <a:rPr lang="fr-FR" sz="1500" b="1">
                <a:solidFill>
                  <a:srgbClr val="B54708"/>
                </a:solidFill>
              </a:rPr>
              <a:t/>
            </a:r>
            <a:endParaRPr lang="fr-FR" sz="1500"/>
          </a:p>
          <a:p>
            <a:pPr algn="c"/>
            <a:r>
              <a:rPr lang="fr-FR" sz="1500" b="1">
                <a:solidFill>
                  <a:srgbClr val="B54708"/>
                </a:solidFill>
              </a:rPr>
              <a:t>Utilisateurs et classes</a:t>
            </a:r>
            <a:endParaRPr lang="fr-FR" sz="1500"/>
          </a:p>
          <a:p>
            <a:pPr algn="c"/>
            <a:r>
              <a:rPr lang="fr-FR" sz="1500" b="1">
                <a:solidFill>
                  <a:srgbClr val="B54708"/>
                </a:solidFill>
              </a:rPr>
              <a:t>Niveaux et matières</a:t>
            </a:r>
            <a:endParaRPr lang="fr-FR" sz="1500"/>
          </a:p>
          <a:p>
            <a:pPr algn="c"/>
            <a:r>
              <a:rPr lang="fr-FR" sz="1500" b="1">
                <a:solidFill>
                  <a:srgbClr val="B54708"/>
                </a:solidFill>
              </a:rPr>
              <a:t>Planning et rapports</a:t>
            </a:r>
            <a:endParaRPr lang="fr-FR" sz="1500"/>
          </a:p>
          <a:p>
            <a:pPr algn="c"/>
            <a:r>
              <a:rPr lang="fr-FR" sz="1500" b="1">
                <a:solidFill>
                  <a:srgbClr val="B54708"/>
                </a:solidFill>
              </a:rPr>
              <a:t>Pilotage global</a:t>
            </a:r>
            <a:endParaRPr lang="fr-FR" sz="1500"/>
          </a:p>
        </p:txBody>
      </p:sp>
      <p:sp>
        <p:nvSpPr>
          <p:cNvPr id="13" name="note"/>
          <p:cNvSpPr/>
          <p:nvPr/>
        </p:nvSpPr>
        <p:spPr>
          <a:xfrm>
            <a:off x="1508760" y="5532120"/>
            <a:ext cx="918972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F2"/>
            </a:solidFill>
          </a:ln>
        </p:spPr>
        <p:txBody>
          <a:bodyPr wrap="square" lIns="127000" rIns="127000" tIns="63500" bIns="63500"/>
          <a:lstStyle/>
          <a:p>
            <a:pPr algn="c"/>
            <a:r>
              <a:rPr lang="fr-FR" sz="1000" b="0">
                <a:solidFill>
                  <a:srgbClr val="475467"/>
                </a:solidFill>
              </a:rPr>
              <a:t>Les écrans sécurisés nécessitent une session utilisateur ; la présentation utilise donc les pages publiques réellement accessibles.</a:t>
            </a:r>
            <a:endParaRPr lang="fr-FR" sz="1000"/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>
  <Application>Smart School Academy</Application>
  <Slides>5</Slides>
</Properties>
</file>

<file path=docProps/core.xml><?xml version="1.0" encoding="utf-8"?>
<cp:coreProperties xmlns:cp="http://schemas.openxmlformats.org/package/2006/metadata/core-properties" xmlns:dc="http://purl.org/dc/elements/1.1/">
  <dc:title>Smart School Academy — Interfaces réelles</dc:title>
  <dc:creator>Codex</dc:creator>
</cp:coreProperties>
</file>